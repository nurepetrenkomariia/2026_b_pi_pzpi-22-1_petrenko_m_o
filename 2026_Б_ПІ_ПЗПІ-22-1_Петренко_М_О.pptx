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80" r:id="rId9"/>
    <p:sldId id="274" r:id="rId10"/>
    <p:sldId id="275" r:id="rId11"/>
    <p:sldId id="264" r:id="rId12"/>
    <p:sldId id="277" r:id="rId13"/>
    <p:sldId id="265" r:id="rId14"/>
    <p:sldId id="278" r:id="rId15"/>
    <p:sldId id="268" r:id="rId16"/>
    <p:sldId id="279" r:id="rId17"/>
    <p:sldId id="267" r:id="rId18"/>
  </p:sldIdLst>
  <p:sldSz cx="9144000" cy="5143500" type="screen16x9"/>
  <p:notesSz cx="6858000" cy="9144000"/>
  <p:embeddedFontLst>
    <p:embeddedFont>
      <p:font typeface="Economica" panose="020B0604020202020204" charset="0"/>
      <p:regular r:id="rId20"/>
      <p:bold r:id="rId21"/>
      <p:italic r:id="rId22"/>
      <p:boldItalic r:id="rId23"/>
    </p:embeddedFont>
    <p:embeddedFont>
      <p:font typeface="Open Sans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A6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9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05" y="1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24085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70595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89534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7695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61623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39477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30011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26714" y="830043"/>
            <a:ext cx="5984131" cy="108967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uk-UA" sz="2400" u="sng" dirty="0"/>
              <a:t>Програмна система для центру дитячого розвитку. Веб-застосунок та мобільний додаток </a:t>
            </a:r>
            <a:r>
              <a:rPr lang="uk-UA" sz="2400" u="sng" dirty="0" smtClean="0"/>
              <a:t>для </a:t>
            </a:r>
            <a:r>
              <a:rPr lang="en-US" sz="2400" u="sng" dirty="0" smtClean="0"/>
              <a:t>Android</a:t>
            </a:r>
            <a:r>
              <a:rPr lang="uk-UA" sz="2400" u="sng" dirty="0" smtClean="0"/>
              <a:t>. </a:t>
            </a:r>
            <a:r>
              <a:rPr lang="uk-UA" sz="2400" u="sng" dirty="0" err="1" smtClean="0"/>
              <a:t>Фронтенд</a:t>
            </a:r>
            <a:r>
              <a:rPr lang="uk-UA" sz="2400" u="sng" dirty="0" smtClean="0"/>
              <a:t>.</a:t>
            </a:r>
            <a:r>
              <a:rPr lang="uk" sz="2400" dirty="0" smtClean="0"/>
              <a:t> </a:t>
            </a:r>
            <a:endParaRPr sz="24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835889" y="3309059"/>
            <a:ext cx="5507664" cy="16321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/>
            <a:r>
              <a:rPr lang="ru-RU" sz="1800" dirty="0"/>
              <a:t>Петренко </a:t>
            </a:r>
            <a:r>
              <a:rPr lang="ru-RU" sz="1800" dirty="0" err="1"/>
              <a:t>Марія</a:t>
            </a:r>
            <a:r>
              <a:rPr lang="ru-RU" sz="1800" dirty="0"/>
              <a:t> </a:t>
            </a:r>
            <a:r>
              <a:rPr lang="ru-RU" sz="1800" dirty="0" err="1"/>
              <a:t>Олександрівна</a:t>
            </a:r>
            <a:r>
              <a:rPr lang="ru-RU" sz="1800" dirty="0"/>
              <a:t>, ПЗПІ-22-1 </a:t>
            </a:r>
          </a:p>
          <a:p>
            <a:pPr marL="0" lvl="0" indent="0" algn="l"/>
            <a:r>
              <a:rPr lang="ru-RU" sz="1800" dirty="0" err="1"/>
              <a:t>Керівник</a:t>
            </a:r>
            <a:r>
              <a:rPr lang="ru-RU" sz="1800" dirty="0"/>
              <a:t>:  доц. каф. ПІ, </a:t>
            </a:r>
            <a:r>
              <a:rPr lang="ru-RU" sz="1800" dirty="0" err="1"/>
              <a:t>Мельнікова</a:t>
            </a:r>
            <a:r>
              <a:rPr lang="ru-RU" sz="1800" dirty="0"/>
              <a:t> Роксана </a:t>
            </a:r>
            <a:r>
              <a:rPr lang="ru-RU" sz="1800" dirty="0" err="1" smtClean="0"/>
              <a:t>Валеріївна</a:t>
            </a:r>
            <a:endParaRPr lang="en-US" sz="1800" dirty="0" smtClean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800" dirty="0" smtClean="0">
                <a:solidFill>
                  <a:schemeClr val="tx1"/>
                </a:solidFill>
              </a:rPr>
              <a:t>10 </a:t>
            </a:r>
            <a:r>
              <a:rPr lang="uk" sz="1800" dirty="0">
                <a:solidFill>
                  <a:schemeClr val="tx1"/>
                </a:solidFill>
              </a:rPr>
              <a:t>червня </a:t>
            </a:r>
            <a:r>
              <a:rPr lang="uk" sz="1800" dirty="0" smtClean="0">
                <a:solidFill>
                  <a:schemeClr val="tx1"/>
                </a:solidFill>
              </a:rPr>
              <a:t>202</a:t>
            </a:r>
            <a:r>
              <a:rPr lang="en-US" sz="1800" dirty="0" smtClean="0">
                <a:solidFill>
                  <a:schemeClr val="tx1"/>
                </a:solidFill>
              </a:rPr>
              <a:t>6</a:t>
            </a:r>
            <a:endParaRPr sz="1800" dirty="0">
              <a:solidFill>
                <a:schemeClr val="tx1"/>
              </a:solidFill>
            </a:endParaRPr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Мета роботи</a:t>
            </a:r>
            <a:endParaRPr sz="3200" dirty="0"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858424"/>
            <a:ext cx="8683444" cy="37479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>
              <a:buNone/>
            </a:pPr>
            <a:r>
              <a:rPr lang="uk-UA" dirty="0" smtClean="0"/>
              <a:t>Мета даної кваліфікаційної роботи реалізувати: </a:t>
            </a:r>
            <a:endParaRPr dirty="0">
              <a:latin typeface="Economica" panose="020B0604020202020204" charset="0"/>
            </a:endParaRPr>
          </a:p>
          <a:p>
            <a:pPr marL="285750" indent="-285750">
              <a:spcBef>
                <a:spcPts val="1200"/>
              </a:spcBef>
              <a:spcAft>
                <a:spcPts val="1200"/>
              </a:spcAft>
            </a:pPr>
            <a:r>
              <a:rPr lang="en-US" dirty="0">
                <a:solidFill>
                  <a:srgbClr val="000000"/>
                </a:solidFill>
              </a:rPr>
              <a:t>front-end </a:t>
            </a:r>
            <a:r>
              <a:rPr lang="uk-UA" dirty="0" smtClean="0">
                <a:solidFill>
                  <a:srgbClr val="000000"/>
                </a:solidFill>
              </a:rPr>
              <a:t>частину </a:t>
            </a:r>
            <a:r>
              <a:rPr lang="uk-UA" dirty="0" err="1" smtClean="0">
                <a:solidFill>
                  <a:srgbClr val="000000"/>
                </a:solidFill>
              </a:rPr>
              <a:t>вебсайту</a:t>
            </a:r>
            <a:r>
              <a:rPr lang="uk-UA" dirty="0" smtClean="0">
                <a:solidFill>
                  <a:srgbClr val="000000"/>
                </a:solidFill>
              </a:rPr>
              <a:t>;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</a:pPr>
            <a:r>
              <a:rPr lang="uk-UA" dirty="0">
                <a:solidFill>
                  <a:srgbClr val="000000"/>
                </a:solidFill>
              </a:rPr>
              <a:t>м</a:t>
            </a:r>
            <a:r>
              <a:rPr lang="uk-UA" dirty="0" smtClean="0">
                <a:solidFill>
                  <a:srgbClr val="000000"/>
                </a:solidFill>
              </a:rPr>
              <a:t>одуль чату для мобільного застосунку;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</a:pPr>
            <a:r>
              <a:rPr lang="uk-UA" dirty="0">
                <a:solidFill>
                  <a:srgbClr val="000000"/>
                </a:solidFill>
              </a:rPr>
              <a:t>о</a:t>
            </a:r>
            <a:r>
              <a:rPr lang="uk-UA" dirty="0" smtClean="0">
                <a:solidFill>
                  <a:srgbClr val="000000"/>
                </a:solidFill>
              </a:rPr>
              <a:t>тримання </a:t>
            </a:r>
            <a:r>
              <a:rPr lang="en-US" dirty="0" smtClean="0">
                <a:solidFill>
                  <a:srgbClr val="000000"/>
                </a:solidFill>
              </a:rPr>
              <a:t>push-</a:t>
            </a:r>
            <a:r>
              <a:rPr lang="uk-UA" dirty="0" smtClean="0">
                <a:solidFill>
                  <a:srgbClr val="000000"/>
                </a:solidFill>
              </a:rPr>
              <a:t>сповіщень про нові повідомлення в чаті.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uk-UA" dirty="0">
                <a:solidFill>
                  <a:srgbClr val="000000"/>
                </a:solidFill>
              </a:rPr>
              <a:t>Ц</a:t>
            </a:r>
            <a:r>
              <a:rPr lang="uk-UA" dirty="0" smtClean="0">
                <a:solidFill>
                  <a:srgbClr val="000000"/>
                </a:solidFill>
              </a:rPr>
              <a:t>і елементи є частинами комплексної програмної системи «</a:t>
            </a:r>
            <a:r>
              <a:rPr lang="en-US" dirty="0" err="1" smtClean="0">
                <a:solidFill>
                  <a:srgbClr val="000000"/>
                </a:solidFill>
              </a:rPr>
              <a:t>ChildSpace</a:t>
            </a:r>
            <a:r>
              <a:rPr lang="uk-UA" dirty="0" smtClean="0">
                <a:solidFill>
                  <a:srgbClr val="000000"/>
                </a:solidFill>
              </a:rPr>
              <a:t>», яка складається з </a:t>
            </a:r>
            <a:r>
              <a:rPr lang="uk-UA" dirty="0" err="1" smtClean="0">
                <a:solidFill>
                  <a:srgbClr val="000000"/>
                </a:solidFill>
              </a:rPr>
              <a:t>вебсайту</a:t>
            </a:r>
            <a:r>
              <a:rPr lang="uk-UA" dirty="0" smtClean="0">
                <a:solidFill>
                  <a:srgbClr val="000000"/>
                </a:solidFill>
              </a:rPr>
              <a:t>, серверної частини та мобільного застосунку.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Аналіз проблеми (аналіз існуючих рішень) 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311700" y="1005500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>
              <a:spcBef>
                <a:spcPts val="1500"/>
              </a:spcBef>
              <a:buNone/>
            </a:pP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Досліджені конкуренти: </a:t>
            </a:r>
            <a:r>
              <a:rPr lang="en-US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Kinderpedia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en-US" dirty="0" err="1">
                <a:solidFill>
                  <a:srgbClr val="0D0D0D"/>
                </a:solidFill>
                <a:highlight>
                  <a:srgbClr val="FFFFFF"/>
                </a:highlight>
              </a:rPr>
              <a:t>Odoo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 Education Management 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System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.</a:t>
            </a: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Прогалини: </a:t>
            </a:r>
          </a:p>
          <a:p>
            <a:pPr marL="285750" indent="-285750">
              <a:spcBef>
                <a:spcPts val="1500"/>
              </a:spcBef>
            </a:pP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ідсутність інтерфейсу українською мовою;</a:t>
            </a:r>
          </a:p>
          <a:p>
            <a:pPr marL="285750" indent="-285750">
              <a:spcBef>
                <a:spcPts val="1500"/>
              </a:spcBef>
            </a:pP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кладність початкового налаштування системи;</a:t>
            </a:r>
          </a:p>
          <a:p>
            <a:pPr marL="285750" indent="-285750">
              <a:spcBef>
                <a:spcPts val="1500"/>
              </a:spcBef>
            </a:pP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рієнтація на формат школи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;</a:t>
            </a:r>
          </a:p>
          <a:p>
            <a:pPr marL="285750" indent="-285750">
              <a:spcBef>
                <a:spcPts val="1500"/>
              </a:spcBef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відсутність чату для обміну повідомленнями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(</a:t>
            </a:r>
            <a:r>
              <a:rPr lang="en-US" dirty="0" err="1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Odoo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Education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)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.</a:t>
            </a:r>
            <a:endParaRPr lang="uk-UA" dirty="0" smtClean="0">
              <a:solidFill>
                <a:srgbClr val="0D0D0D"/>
              </a:solidFill>
              <a:highlight>
                <a:srgbClr val="FFFFFF"/>
              </a:highlight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285750" indent="-285750">
              <a:spcBef>
                <a:spcPts val="1500"/>
              </a:spcBef>
            </a:pPr>
            <a:endParaRPr lang="uk-UA" dirty="0" smtClean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285750" indent="-285750">
              <a:spcBef>
                <a:spcPts val="1500"/>
              </a:spcBef>
            </a:pPr>
            <a:endParaRPr dirty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Постановка задачі </a:t>
            </a:r>
            <a:endParaRPr sz="3200"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645024"/>
            <a:ext cx="8520600" cy="38560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>
              <a:spcBef>
                <a:spcPts val="1500"/>
              </a:spcBef>
              <a:buNone/>
            </a:pP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Реалізація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системи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передбачає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створення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бази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даних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,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серверної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частини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вебінтерфейсу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, 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також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мобільного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клієнту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. </a:t>
            </a:r>
            <a:endParaRPr lang="ru-RU" dirty="0" smtClean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0" lvl="0" indent="0" algn="just">
              <a:spcBef>
                <a:spcPts val="1500"/>
              </a:spcBef>
              <a:buNone/>
            </a:pP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Вебсайт –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основний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інструмент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роботи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для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адміністрації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викладачів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центру,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забезпечує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доступ 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до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всього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функціоналу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системи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. </a:t>
            </a:r>
          </a:p>
          <a:p>
            <a:pPr marL="0" lvl="0" indent="0" algn="just">
              <a:spcBef>
                <a:spcPts val="1500"/>
              </a:spcBef>
              <a:buNone/>
            </a:pP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Мобільний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застосунок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орієнтований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переважно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на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батьків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має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надавати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швидкий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і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зручний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 доступ 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до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розкладу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занять та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обміну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повідомленнями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в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чаті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.</a:t>
            </a:r>
          </a:p>
          <a:p>
            <a:pPr marL="0" lvl="0" indent="0" algn="just">
              <a:spcBef>
                <a:spcPts val="1500"/>
              </a:spcBef>
              <a:buNone/>
            </a:pP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Завданням даної роботи є створення 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front-end 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частини </a:t>
            </a:r>
            <a:r>
              <a:rPr lang="uk-UA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вебсайту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 та функціоналу чату для мобільного застосунку під ОС 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Android.</a:t>
            </a:r>
            <a:endParaRPr lang="uk-UA" dirty="0" smtClean="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Очікувані результати</a:t>
            </a:r>
            <a:endParaRPr sz="3200"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701837"/>
            <a:ext cx="8520600" cy="37425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spcBef>
                <a:spcPts val="1500"/>
              </a:spcBef>
              <a:spcAft>
                <a:spcPts val="1200"/>
              </a:spcAft>
            </a:pP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Інтуїтивно зрозумілий інтерфейс </a:t>
            </a:r>
            <a:r>
              <a:rPr lang="uk-UA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вебсайту</a:t>
            </a: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та мобільного застосунку;</a:t>
            </a:r>
          </a:p>
          <a:p>
            <a:pPr marL="285750" indent="-285750">
              <a:spcBef>
                <a:spcPts val="1500"/>
              </a:spcBef>
              <a:spcAft>
                <a:spcPts val="1200"/>
              </a:spcAft>
            </a:pP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Сучасний дизайн клієнтських частин;</a:t>
            </a:r>
          </a:p>
          <a:p>
            <a:pPr marL="285750" indent="-285750">
              <a:spcBef>
                <a:spcPts val="1500"/>
              </a:spcBef>
              <a:spcAft>
                <a:spcPts val="1200"/>
              </a:spcAft>
            </a:pP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Повнофункціональний </a:t>
            </a:r>
            <a:r>
              <a:rPr lang="uk-UA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вебсайт</a:t>
            </a: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, який взаємодіє з сервером системи;</a:t>
            </a:r>
          </a:p>
          <a:p>
            <a:pPr marL="285750" indent="-285750">
              <a:spcBef>
                <a:spcPts val="1500"/>
              </a:spcBef>
              <a:spcAft>
                <a:spcPts val="1200"/>
              </a:spcAft>
            </a:pP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Функціонал та інтерфейс чатів для мобільного застосунку.</a:t>
            </a:r>
            <a:endParaRPr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322799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Вибір технологій розробки </a:t>
            </a:r>
            <a:endParaRPr sz="3200" dirty="0"/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11700" y="759914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" dirty="0" smtClean="0">
                <a:solidFill>
                  <a:srgbClr val="0D0D0D"/>
                </a:solidFill>
                <a:highlight>
                  <a:srgbClr val="FFFFFF"/>
                </a:highlight>
              </a:rPr>
              <a:t>При виконанні роботи були використані:</a:t>
            </a:r>
          </a:p>
          <a:p>
            <a:pPr marL="285750" indent="-285750">
              <a:spcBef>
                <a:spcPts val="1500"/>
              </a:spcBef>
            </a:pP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Visual 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Studio Code – 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редактор </a:t>
            </a:r>
            <a:r>
              <a:rPr lang="ru-RU" dirty="0" smtClean="0">
                <a:solidFill>
                  <a:srgbClr val="0D0D0D"/>
                </a:solidFill>
                <a:highlight>
                  <a:srgbClr val="FFFFFF"/>
                </a:highlight>
              </a:rPr>
              <a:t>коду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ru-RU" dirty="0" smtClean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>
              <a:spcBef>
                <a:spcPts val="1500"/>
              </a:spcBef>
            </a:pP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Android Studio – 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середовище розробки мобільного застосунку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ru-RU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>
              <a:spcBef>
                <a:spcPts val="1500"/>
              </a:spcBef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Node.js + </a:t>
            </a:r>
            <a:r>
              <a:rPr lang="en-US" dirty="0" err="1">
                <a:solidFill>
                  <a:srgbClr val="0D0D0D"/>
                </a:solidFill>
                <a:highlight>
                  <a:srgbClr val="FFFFFF"/>
                </a:highlight>
              </a:rPr>
              <a:t>Vite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 –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збірка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та запуск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проєкту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ru-RU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>
              <a:spcBef>
                <a:spcPts val="1500"/>
              </a:spcBef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GitHub – 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контроль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версій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ru-RU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>
              <a:spcBef>
                <a:spcPts val="1500"/>
              </a:spcBef>
            </a:pPr>
            <a:r>
              <a:rPr lang="en-US" dirty="0" err="1">
                <a:solidFill>
                  <a:srgbClr val="0D0D0D"/>
                </a:solidFill>
                <a:highlight>
                  <a:srgbClr val="FFFFFF"/>
                </a:highlight>
              </a:rPr>
              <a:t>Npm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 – 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менеджер </a:t>
            </a:r>
            <a:r>
              <a:rPr lang="ru-RU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пакетів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</a:p>
          <a:p>
            <a:pPr marL="285750" indent="-285750">
              <a:spcBef>
                <a:spcPts val="1500"/>
              </a:spcBef>
            </a:pPr>
            <a:r>
              <a:rPr lang="en-US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axeDevTools</a:t>
            </a:r>
            <a:r>
              <a:rPr lang="en-US" dirty="0" smtClean="0">
                <a:solidFill>
                  <a:srgbClr val="0D0D0D"/>
                </a:solidFill>
                <a:highlight>
                  <a:srgbClr val="FFFFFF"/>
                </a:highlight>
              </a:rPr>
              <a:t> – 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тестування доступності.</a:t>
            </a:r>
            <a:endParaRPr lang="ru-RU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endParaRPr lang="uk-UA" dirty="0" smtClean="0">
              <a:solidFill>
                <a:srgbClr val="0D0D0D"/>
              </a:solidFill>
              <a:highlight>
                <a:srgbClr val="FFFFFF"/>
              </a:highlight>
              <a:latin typeface="Economica" panose="020B0604020202020204" charset="0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</a:t>
            </a:r>
            <a:r>
              <a:rPr lang="uk" sz="3200" dirty="0" smtClean="0"/>
              <a:t>створенного програмного забезпечення. Вебсайт</a:t>
            </a:r>
            <a:endParaRPr sz="3200" dirty="0"/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0335" y="755560"/>
            <a:ext cx="3433868" cy="40857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8925" y="1175306"/>
            <a:ext cx="4586438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7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Single Page Application (SPA)</a:t>
            </a:r>
            <a:r>
              <a:rPr lang="uk-UA" sz="17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– швидке завантаження сторінок;</a:t>
            </a:r>
            <a:endParaRPr lang="en-US" sz="1700" dirty="0" smtClean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uk-UA" sz="17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к</a:t>
            </a:r>
            <a:r>
              <a:rPr lang="uk-UA" sz="17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омпонентний підхід – повторне використання компонентів без дублювання коду;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uk-UA" sz="17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</a:t>
            </a:r>
            <a:r>
              <a:rPr lang="uk-UA" sz="17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одульна структура </a:t>
            </a:r>
            <a:r>
              <a:rPr lang="uk-UA" sz="17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проєкту</a:t>
            </a:r>
            <a:r>
              <a:rPr lang="uk-UA" sz="17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(компоненти, сторінки, модуль авторизації).</a:t>
            </a:r>
            <a:endParaRPr lang="ru-RU" sz="17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</a:t>
            </a:r>
            <a:r>
              <a:rPr lang="uk" sz="3200" dirty="0" smtClean="0"/>
              <a:t>створенного програмного забезпечення. Вебсайт</a:t>
            </a:r>
            <a:endParaRPr sz="3200" dirty="0"/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l="5455" r="4375"/>
          <a:stretch/>
        </p:blipFill>
        <p:spPr>
          <a:xfrm>
            <a:off x="5344633" y="1602043"/>
            <a:ext cx="3799367" cy="153101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5"/>
          <a:srcRect t="1203" r="1803"/>
          <a:stretch/>
        </p:blipFill>
        <p:spPr>
          <a:xfrm>
            <a:off x="35442" y="1084519"/>
            <a:ext cx="5309191" cy="3140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69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</a:t>
            </a:r>
            <a:r>
              <a:rPr lang="uk" sz="3200" dirty="0" smtClean="0"/>
              <a:t>створенного програмного забезпечення.</a:t>
            </a:r>
            <a:r>
              <a:rPr lang="en-US" sz="3200" dirty="0" smtClean="0"/>
              <a:t> </a:t>
            </a:r>
            <a:r>
              <a:rPr lang="uk-UA" sz="3200" dirty="0" smtClean="0"/>
              <a:t>Мобільний застосунок</a:t>
            </a:r>
            <a:endParaRPr sz="32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219" y="1275289"/>
            <a:ext cx="6941288" cy="2817314"/>
          </a:xfrm>
          <a:prstGeom prst="rect">
            <a:avLst/>
          </a:prstGeom>
        </p:spPr>
      </p:pic>
      <p:pic>
        <p:nvPicPr>
          <p:cNvPr id="101" name="Google Shape;10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959716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-UA" sz="3200" dirty="0" smtClean="0"/>
              <a:t>Мови програмування та бібліотеки</a:t>
            </a:r>
            <a:endParaRPr sz="3200" dirty="0"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399666" y="786809"/>
            <a:ext cx="8520600" cy="35087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Веб-сайт: </a:t>
            </a: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>
              <a:latin typeface="Economica" panose="020B0604020202020204" charset="0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567" y="1458886"/>
            <a:ext cx="983062" cy="1066846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2662" y="1618109"/>
            <a:ext cx="984741" cy="907623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1150" y="1419118"/>
            <a:ext cx="1113846" cy="1106614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5145" y="1419118"/>
            <a:ext cx="744170" cy="10257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666" y="2656252"/>
            <a:ext cx="2784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Мобільний застосунок: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898722" y="1315318"/>
            <a:ext cx="83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React</a:t>
            </a:r>
            <a:endParaRPr lang="ru-RU" sz="1800" b="1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24669" y="3258820"/>
            <a:ext cx="1909326" cy="425186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099" y="3115715"/>
            <a:ext cx="1791857" cy="768556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00284" y="3928247"/>
            <a:ext cx="2295653" cy="734609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52121" y="3926369"/>
            <a:ext cx="1823300" cy="83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358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sp>
        <p:nvSpPr>
          <p:cNvPr id="5" name="TextBox 4"/>
          <p:cNvSpPr txBox="1"/>
          <p:nvPr/>
        </p:nvSpPr>
        <p:spPr>
          <a:xfrm>
            <a:off x="268925" y="837019"/>
            <a:ext cx="5448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Зміна розміру стовпця таблиці адміністратора: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5549" y="1298360"/>
            <a:ext cx="4307351" cy="34618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  <p:sp>
        <p:nvSpPr>
          <p:cNvPr id="5" name="TextBox 4"/>
          <p:cNvSpPr txBox="1"/>
          <p:nvPr/>
        </p:nvSpPr>
        <p:spPr>
          <a:xfrm>
            <a:off x="318544" y="1016854"/>
            <a:ext cx="6894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Підвантаження</a:t>
            </a:r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повідомлень чату в мобільному застосунку: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813" y="1816441"/>
            <a:ext cx="8053594" cy="183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59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Інтерфейс користувача. Веб-сайт 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13</a:t>
            </a:fld>
            <a:endParaRPr lang="uk-UA" dirty="0"/>
          </a:p>
        </p:txBody>
      </p:sp>
      <p:sp>
        <p:nvSpPr>
          <p:cNvPr id="6" name="TextBox 5"/>
          <p:cNvSpPr txBox="1"/>
          <p:nvPr/>
        </p:nvSpPr>
        <p:spPr>
          <a:xfrm>
            <a:off x="1700282" y="2606647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Гість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98128" y="2606647"/>
            <a:ext cx="176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Адміністратор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4"/>
          <a:srcRect t="2073" b="3523"/>
          <a:stretch/>
        </p:blipFill>
        <p:spPr>
          <a:xfrm>
            <a:off x="2766384" y="2970430"/>
            <a:ext cx="3896084" cy="1679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84285" y="4650374"/>
            <a:ext cx="1260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Викладач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5"/>
          <a:srcRect/>
          <a:stretch/>
        </p:blipFill>
        <p:spPr>
          <a:xfrm>
            <a:off x="381035" y="687680"/>
            <a:ext cx="4148190" cy="1973158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001" y="687680"/>
            <a:ext cx="4041780" cy="191341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Інтерфейс користувача. </a:t>
            </a:r>
            <a:r>
              <a:rPr lang="uk-UA" sz="3200" dirty="0" smtClean="0"/>
              <a:t>Мобільний застосунок</a:t>
            </a:r>
            <a:r>
              <a:rPr lang="uk" sz="3200" dirty="0" smtClean="0"/>
              <a:t> 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14</a:t>
            </a:fld>
            <a:endParaRPr lang="uk-UA" dirty="0"/>
          </a:p>
        </p:txBody>
      </p:sp>
      <p:sp>
        <p:nvSpPr>
          <p:cNvPr id="6" name="TextBox 5"/>
          <p:cNvSpPr txBox="1"/>
          <p:nvPr/>
        </p:nvSpPr>
        <p:spPr>
          <a:xfrm>
            <a:off x="6089747" y="4421683"/>
            <a:ext cx="2699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Список учасників чату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81098" y="4421683"/>
            <a:ext cx="1614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Список чатів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58448" y="4421683"/>
            <a:ext cx="1385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18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Екран чату</a:t>
            </a:r>
            <a:endParaRPr lang="ru-RU" sz="18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33" b="569"/>
          <a:stretch/>
        </p:blipFill>
        <p:spPr>
          <a:xfrm>
            <a:off x="1381098" y="722338"/>
            <a:ext cx="1645637" cy="36099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2312" b="1242"/>
          <a:stretch/>
        </p:blipFill>
        <p:spPr>
          <a:xfrm>
            <a:off x="3877340" y="722338"/>
            <a:ext cx="1703476" cy="3609938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421" y="722338"/>
            <a:ext cx="1645036" cy="3609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059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Тестування</a:t>
            </a:r>
            <a:endParaRPr sz="3200" dirty="0"/>
          </a:p>
        </p:txBody>
      </p:sp>
      <p:sp>
        <p:nvSpPr>
          <p:cNvPr id="128" name="Google Shape;128;p22"/>
          <p:cNvSpPr txBox="1">
            <a:spLocks noGrp="1"/>
          </p:cNvSpPr>
          <p:nvPr>
            <p:ph type="body" idx="1"/>
          </p:nvPr>
        </p:nvSpPr>
        <p:spPr>
          <a:xfrm>
            <a:off x="311700" y="525780"/>
            <a:ext cx="8520600" cy="40534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Приклад тест-кейсу для перевірки форми для запису на пробне заняття.</a:t>
            </a: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15</a:t>
            </a:fld>
            <a:endParaRPr lang="uk-UA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9362" y="1213430"/>
            <a:ext cx="4033412" cy="3546807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961" y="1213430"/>
            <a:ext cx="2934585" cy="349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2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 smtClean="0"/>
              <a:t>Тестування</a:t>
            </a:r>
            <a:endParaRPr sz="3200" dirty="0"/>
          </a:p>
        </p:txBody>
      </p:sp>
      <p:sp>
        <p:nvSpPr>
          <p:cNvPr id="128" name="Google Shape;128;p22"/>
          <p:cNvSpPr txBox="1">
            <a:spLocks noGrp="1"/>
          </p:cNvSpPr>
          <p:nvPr>
            <p:ph type="body" idx="1"/>
          </p:nvPr>
        </p:nvSpPr>
        <p:spPr>
          <a:xfrm>
            <a:off x="311700" y="525780"/>
            <a:ext cx="8520600" cy="40534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Чек-</a:t>
            </a:r>
            <a:r>
              <a:rPr lang="uk-UA" dirty="0" err="1" smtClean="0">
                <a:solidFill>
                  <a:srgbClr val="0D0D0D"/>
                </a:solidFill>
                <a:highlight>
                  <a:srgbClr val="FFFFFF"/>
                </a:highlight>
              </a:rPr>
              <a:t>ліст</a:t>
            </a:r>
            <a:r>
              <a:rPr lang="uk-UA" dirty="0" smtClean="0">
                <a:solidFill>
                  <a:srgbClr val="0D0D0D"/>
                </a:solidFill>
                <a:highlight>
                  <a:srgbClr val="FFFFFF"/>
                </a:highlight>
              </a:rPr>
              <a:t> тестування мобільного застосунку</a:t>
            </a:r>
          </a:p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16</a:t>
            </a:fld>
            <a:endParaRPr lang="uk-UA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7360" y="1347063"/>
            <a:ext cx="5776630" cy="323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931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Підсумки </a:t>
            </a:r>
            <a:endParaRPr sz="3200" dirty="0"/>
          </a:p>
        </p:txBody>
      </p:sp>
      <p:sp>
        <p:nvSpPr>
          <p:cNvPr id="142" name="Google Shape;142;p24"/>
          <p:cNvSpPr txBox="1">
            <a:spLocks noGrp="1"/>
          </p:cNvSpPr>
          <p:nvPr>
            <p:ph type="body" idx="1"/>
          </p:nvPr>
        </p:nvSpPr>
        <p:spPr>
          <a:xfrm>
            <a:off x="311700" y="796014"/>
            <a:ext cx="8520600" cy="37832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50000"/>
              </a:lnSpc>
              <a:buNone/>
            </a:pP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результаті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uk-UA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даної частини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кваліфікаційної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роботи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було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розроблено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en-US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front-end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частину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вебсайту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програмної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системи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«</a:t>
            </a:r>
            <a:r>
              <a:rPr lang="en-US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ChildSpace</a:t>
            </a:r>
            <a:r>
              <a:rPr lang="en-US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» 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для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центрів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дитячого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позашкільного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розвитку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, а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також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функціонал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та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інтерфейс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для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обміну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повідомленнями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в чатах в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мобільному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застосунку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під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операційну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систему </a:t>
            </a:r>
            <a:r>
              <a:rPr lang="en-US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Android</a:t>
            </a:r>
            <a:r>
              <a:rPr lang="en-US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.</a:t>
            </a:r>
            <a:r>
              <a:rPr lang="uk-UA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</a:p>
          <a:p>
            <a:pPr marL="0" lvl="0" indent="0" algn="just">
              <a:lnSpc>
                <a:spcPct val="150000"/>
              </a:lnSpc>
              <a:buNone/>
            </a:pPr>
            <a:r>
              <a:rPr lang="uk-UA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Розроблені </a:t>
            </a:r>
            <a:r>
              <a:rPr lang="uk-UA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веб-сайт </a:t>
            </a:r>
            <a:r>
              <a:rPr lang="uk-UA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та мобільний застосунок допомагають автоматизувати </a:t>
            </a:r>
            <a:r>
              <a:rPr lang="uk-UA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основні процеси центрів та </a:t>
            </a:r>
            <a:r>
              <a:rPr lang="uk-UA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відповідають вимогам </a:t>
            </a:r>
            <a:r>
              <a:rPr lang="uk-UA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кінцевих користувачів. Сторінки завантажуються без затримок, забезпечуючи комфортне використання системи. </a:t>
            </a:r>
            <a:endParaRPr lang="uk-UA" sz="1500" dirty="0" smtClean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0" lvl="0" indent="0" algn="just">
              <a:lnSpc>
                <a:spcPct val="150000"/>
              </a:lnSpc>
              <a:buNone/>
            </a:pP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майбутньому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для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покращення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системи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«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ChildSpace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»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можна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додати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: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інтегрований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механізм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оплати занять;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всі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функції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веб-сайту для </a:t>
            </a:r>
            <a:r>
              <a:rPr lang="ru-RU" sz="1500" dirty="0" err="1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мобільного</a:t>
            </a:r>
            <a:r>
              <a:rPr lang="ru-RU" sz="1500" dirty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застосунку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;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мобільний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lang="ru-RU" sz="1500" dirty="0" err="1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застосунок</a:t>
            </a:r>
            <a:r>
              <a:rPr lang="ru-RU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для ОС </a:t>
            </a:r>
            <a:r>
              <a:rPr lang="en-US" sz="1500" dirty="0" smtClean="0"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IOS.</a:t>
            </a:r>
            <a:endParaRPr lang="ru-RU" sz="15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0" lvl="0" indent="0" algn="just">
              <a:lnSpc>
                <a:spcPct val="150000"/>
              </a:lnSpc>
              <a:buNone/>
            </a:pPr>
            <a:endParaRPr sz="1600" dirty="0"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17</a:t>
            </a:fld>
            <a:endParaRPr lang="uk-UA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1176</TotalTime>
  <Words>512</Words>
  <Application>Microsoft Office PowerPoint</Application>
  <PresentationFormat>Экран (16:9)</PresentationFormat>
  <Paragraphs>83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Economica</vt:lpstr>
      <vt:lpstr>Open Sans</vt:lpstr>
      <vt:lpstr>Arial</vt:lpstr>
      <vt:lpstr>Шаблон презентації кваліфікаційної роботи магістрів</vt:lpstr>
      <vt:lpstr>Програмна система для центру дитячого розвитку. Веб-застосунок та мобільний додаток для Android. Фронтенд. </vt:lpstr>
      <vt:lpstr>Мета роботи</vt:lpstr>
      <vt:lpstr>Аналіз проблеми (аналіз існуючих рішень) </vt:lpstr>
      <vt:lpstr>Постановка задачі </vt:lpstr>
      <vt:lpstr>Очікувані результати</vt:lpstr>
      <vt:lpstr>Вибір технологій розробки </vt:lpstr>
      <vt:lpstr>Архітектура створенного програмного забезпечення. Вебсайт</vt:lpstr>
      <vt:lpstr>Архітектура створенного програмного забезпечення. Вебсайт</vt:lpstr>
      <vt:lpstr>Архітектура створенного програмного забезпечення. Мобільний застосунок</vt:lpstr>
      <vt:lpstr>Мови програмування та бібліотеки</vt:lpstr>
      <vt:lpstr>Приклад реалізації</vt:lpstr>
      <vt:lpstr>Приклад реалізації</vt:lpstr>
      <vt:lpstr>Інтерфейс користувача. Веб-сайт </vt:lpstr>
      <vt:lpstr>Інтерфейс користувача. Мобільний застосунок </vt:lpstr>
      <vt:lpstr>Тестування</vt:lpstr>
      <vt:lpstr>Тестування</vt:lpstr>
      <vt:lpstr>Підсумки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роботи</dc:title>
  <dc:creator>Lexin</dc:creator>
  <cp:lastModifiedBy>Mariia</cp:lastModifiedBy>
  <cp:revision>68</cp:revision>
  <dcterms:created xsi:type="dcterms:W3CDTF">2024-10-03T11:39:34Z</dcterms:created>
  <dcterms:modified xsi:type="dcterms:W3CDTF">2026-06-28T16:43:37Z</dcterms:modified>
</cp:coreProperties>
</file>